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>
        <p:scale>
          <a:sx n="178" d="100"/>
          <a:sy n="178" d="100"/>
        </p:scale>
        <p:origin x="-3624" y="-16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oire Dambre" userId="92342184-45c0-4919-beba-5dfbe47548a6" providerId="ADAL" clId="{578F71C9-48E5-5917-BA45-A84A8C16A5C5}"/>
    <pc:docChg chg="modSld">
      <pc:chgData name="Gregoire Dambre" userId="92342184-45c0-4919-beba-5dfbe47548a6" providerId="ADAL" clId="{578F71C9-48E5-5917-BA45-A84A8C16A5C5}" dt="2026-05-26T11:26:55.085" v="1" actId="1076"/>
      <pc:docMkLst>
        <pc:docMk/>
      </pc:docMkLst>
      <pc:sldChg chg="modSp mod">
        <pc:chgData name="Gregoire Dambre" userId="92342184-45c0-4919-beba-5dfbe47548a6" providerId="ADAL" clId="{578F71C9-48E5-5917-BA45-A84A8C16A5C5}" dt="2026-05-26T11:26:55.085" v="1" actId="1076"/>
        <pc:sldMkLst>
          <pc:docMk/>
          <pc:sldMk cId="0" sldId="257"/>
        </pc:sldMkLst>
        <pc:picChg chg="mod">
          <ac:chgData name="Gregoire Dambre" userId="92342184-45c0-4919-beba-5dfbe47548a6" providerId="ADAL" clId="{578F71C9-48E5-5917-BA45-A84A8C16A5C5}" dt="2026-05-26T11:26:55.085" v="1" actId="1076"/>
          <ac:picMkLst>
            <pc:docMk/>
            <pc:sldMk cId="0" sldId="257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B6F"/>
                </a:solidFill>
              </a:rPr>
              <a:t>Interim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3"/>
                </a:solidFill>
              </a:rPr>
              <a:t>Graph neural networks for pavement deterioration prediction and network-aware maintenance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8566A"/>
                </a:solidFill>
              </a:rPr>
              <a:t>MPhil ISMM Cambridge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97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8566A"/>
                </a:solidFill>
              </a:rPr>
              <a:t>Gregoire Dambre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394960"/>
            <a:ext cx="2103120" cy="164592"/>
          </a:xfrm>
          <a:prstGeom prst="rect">
            <a:avLst/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B6F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566A"/>
                </a:solidFill>
              </a:rPr>
              <a:t>From isolated road sections to coordinated maintenance decisions at network scale</a:t>
            </a:r>
          </a:p>
        </p:txBody>
      </p:sp>
      <p:pic>
        <p:nvPicPr>
          <p:cNvPr id="4" name="Picture 3" descr="from_asset_to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1" y="682519"/>
            <a:ext cx="10972800" cy="61754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852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566A"/>
                </a:solidFill>
              </a:rPr>
              <a:t>Traditional pavement management predicts one section at a time; this dissertation asks how local deterioration, traffic, and dependencies can be linked to network-wide maintenance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B6F"/>
                </a:solidFill>
              </a:rPr>
              <a:t>Results Storyline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315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566A"/>
                </a:solidFill>
              </a:rPr>
              <a:t>What the results now support most clearly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F2933"/>
                </a:solidFill>
              </a:defRPr>
            </a:pPr>
            <a:r>
              <a:t>Local history is strong, but graph information adds value when the graph semantics are well designed.</a:t>
            </a:r>
          </a:p>
          <a:p>
            <a:pPr>
              <a:defRPr sz="2100">
                <a:solidFill>
                  <a:srgbClr val="1F2933"/>
                </a:solidFill>
              </a:defRPr>
            </a:pPr>
            <a:r>
              <a:t>On HPMS16, the strongest in-domain benchmark is the Stacked MLP ensemble (R² = 0.5356).</a:t>
            </a:r>
          </a:p>
          <a:p>
            <a:pPr>
              <a:defRPr sz="2100">
                <a:solidFill>
                  <a:srgbClr val="1F2933"/>
                </a:solidFill>
              </a:defRPr>
            </a:pPr>
            <a:r>
              <a:t>A refined pavement-aware graph now reaches almost the same level on HPMS16 (R² = 0.5329).</a:t>
            </a:r>
          </a:p>
          <a:p>
            <a:pPr>
              <a:defRPr sz="2100">
                <a:solidFill>
                  <a:srgbClr val="1F2933"/>
                </a:solidFill>
              </a:defRPr>
            </a:pPr>
            <a:r>
              <a:t>On MEPDG, the best absolute score is the refined R-GCN with materials + weight sweep (R² = 0.5582).</a:t>
            </a:r>
          </a:p>
          <a:p>
            <a:pPr>
              <a:defRPr sz="2100">
                <a:solidFill>
                  <a:srgbClr val="1F2933"/>
                </a:solidFill>
              </a:defRPr>
            </a:pPr>
            <a:r>
              <a:t>Geographic transfer remains weak out-of-domain, which supports local recalibration rather than one universal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B6F"/>
                </a:solidFill>
              </a:rPr>
              <a:t>Core Benchmark on HPMS16</a:t>
            </a:r>
          </a:p>
        </p:txBody>
      </p:sp>
      <p:pic>
        <p:nvPicPr>
          <p:cNvPr id="3" name="Picture 2" descr="hpms16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680960" cy="3933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3258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3"/>
                </a:solidFill>
              </a:defRPr>
            </a:pPr>
            <a:r>
              <a:t>RF local: 0.4489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R-GCN full refined: 0.3708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Refined R-GCN with materials + weights: 0.5329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Stacked MLP ensemble: 0.5356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74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566A"/>
                </a:solidFill>
              </a:rPr>
              <a:t>Message: graph information matters most when it is either combined with strong local history, or encoded through a richer pavement similarity definition.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B6F"/>
                </a:solidFill>
              </a:rPr>
              <a:t>Specialist Target: MEPDG Cracking</a:t>
            </a:r>
          </a:p>
        </p:txBody>
      </p:sp>
      <p:pic>
        <p:nvPicPr>
          <p:cNvPr id="3" name="Picture 2" descr="mepdg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680960" cy="3933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132588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3"/>
                </a:solidFill>
              </a:defRPr>
            </a:pPr>
            <a:r>
              <a:t>RF local: 0.5233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R-GCN baseline: 0.5424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Stacked MLP ensemble: 0.5263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Refined R-GCN: 0.5582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507492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566A"/>
                </a:solidFill>
              </a:rPr>
              <a:t>Message: on MEPDG, the graph model itself is already stronger than RF, and the best score comes from refined graph semantics rather than ensembling.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B6F"/>
                </a:solidFill>
              </a:rPr>
              <a:t>Robustness: Geographic Transfer</a:t>
            </a:r>
          </a:p>
        </p:txBody>
      </p:sp>
      <p:pic>
        <p:nvPicPr>
          <p:cNvPr id="3" name="Picture 2" descr="ood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955279" cy="46896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325880"/>
            <a:ext cx="2743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3"/>
                </a:solidFill>
              </a:defRPr>
            </a:pPr>
            <a:r>
              <a:t>Subset analysis on 5 representative held-out states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Mean OOD R²: RF = 0.173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Mean OOD R²: ensemble = 0.119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Ensemble beats RF on only 2/5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029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566A"/>
                </a:solidFill>
              </a:rPr>
              <a:t>Message: the ensemble is a strong in-domain result, but it does not resolve state-to-state transfer. The signal remains region-specific.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B6F"/>
                </a:solidFill>
              </a:rPr>
              <a:t>Bridge to Phase 2: Traffic Sensitivity</a:t>
            </a:r>
          </a:p>
        </p:txBody>
      </p:sp>
      <p:pic>
        <p:nvPicPr>
          <p:cNvPr id="3" name="Picture 2" descr="traffic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8229600" cy="41203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0" y="1371600"/>
            <a:ext cx="2377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3"/>
                </a:solidFill>
              </a:defRPr>
            </a:pPr>
            <a:r>
              <a:t>n events = 4,627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n controls = 55,436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Diff = -6,016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95% CI = [-9,415 ; -2,536]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Welch p = 0.0007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5074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8566A"/>
                </a:solidFill>
              </a:rPr>
              <a:t>Message: even with annual traffic-loading proxies, maintenance years leave measurable signatures that motivate the optimisation stage.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B6F"/>
                </a:solidFill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F2933"/>
                </a:solidFill>
              </a:defRPr>
            </a:pPr>
            <a:r>
              <a:t>Best comparative HPMS16 result: Stacked MLP ensemble, R² = 0.5356.</a:t>
            </a:r>
          </a:p>
          <a:p>
            <a:pPr>
              <a:defRPr sz="2200">
                <a:solidFill>
                  <a:srgbClr val="1F2933"/>
                </a:solidFill>
              </a:defRPr>
            </a:pPr>
            <a:r>
              <a:t>Best absolute cracking result: refined R-GCN on MEPDG, R² = 0.5582.</a:t>
            </a:r>
          </a:p>
          <a:p>
            <a:pPr>
              <a:defRPr sz="2200">
                <a:solidFill>
                  <a:srgbClr val="1F2933"/>
                </a:solidFill>
              </a:defRPr>
            </a:pPr>
            <a:r>
              <a:t>New result: refined pavement similarity also lifts HPMS16 strongly, to R² = 0.5329.</a:t>
            </a:r>
          </a:p>
          <a:p>
            <a:pPr>
              <a:defRPr sz="2200">
                <a:solidFill>
                  <a:srgbClr val="1F2933"/>
                </a:solidFill>
              </a:defRPr>
            </a:pPr>
            <a:r>
              <a:t>Key limitation: geographic transfer remains weak, so local recalibration matters.</a:t>
            </a:r>
          </a:p>
          <a:p>
            <a:pPr>
              <a:defRPr sz="2200">
                <a:solidFill>
                  <a:srgbClr val="1F2933"/>
                </a:solidFill>
              </a:defRPr>
            </a:pPr>
            <a:r>
              <a:t>Next step: translate these predictive and network signals into maintenance scheduling under disruption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439</Words>
  <Application>Microsoft Macintosh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Grégoire Dambre (Student at CentraleSupelec)</cp:lastModifiedBy>
  <cp:revision>1</cp:revision>
  <dcterms:created xsi:type="dcterms:W3CDTF">2013-01-27T09:14:16Z</dcterms:created>
  <dcterms:modified xsi:type="dcterms:W3CDTF">2026-05-26T11:27:05Z</dcterms:modified>
  <cp:category/>
</cp:coreProperties>
</file>